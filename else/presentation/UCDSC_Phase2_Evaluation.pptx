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UCDSC is an open-set recognition method for medical imaging using simplex-based prototypes and uncertainty-aware rejection.
2. The base paper achieves strong OSR on medical datasets by combining prototype geometry with uncertainty regularization.
3. Key limitation: the theoretical framework assumes embedding dimension d &gt;= C-1. Real low-dimensional settings violate this.
4. Our work extends the framework to study what happens in the d &lt; C-1 regime, where the simplex degrades but rejection geometry survives.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We reproduced the core UCDSC baselines on BloodMNIST and DermaMNIST to validate the paper's claims.
2. We extended with threshold calibration analysis and a low-dimension sensitivity experiment.
3. CIFAR-100 is an outside-medical-domain stress test showing the method generalizes.
4. PathMNIST is our key theory-motivated extension: with C=6 known classes and d=4, we have d &lt; C-1, directly testing the low-dimensional regime.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BloodMNIST baseline is much stronger than DermaMNIST across all metrics.
2. Lowering embedding dimension from 512 to 32 hurts open-set quality: AUROC drops ~3 points, and Best-DTACC FAR triples from 8% to 29%.
3. CIFAR-100 extension shows the method generalizes outside medical domain with AUROC 92.0.
4. PathMNIST in d &lt; C-1 regime is weak and unstable, which validates our theoretical prediction about degraded rejection geometry.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All three members contributed equally to the theoretical reading and interpretation work.
2. Mayank focused on reproduced baselines analysis and report narrative.
3. Rohit focused on threshold/dimension experiments and CIFAR-100 extension.
4. Danie focused on the PathMNIST pipeline execution and artifact compilation.
5. Presentation and report work was shared across all members.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UCDSC: Open-Set Recognition for Medical Imaging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 Overview &amp; Motivation for Extension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4023360" cy="777240"/>
          </a:xfrm>
          <a:prstGeom prst="rect">
            <a:avLst/>
          </a:prstGeom>
          <a:solidFill>
            <a:srgbClr val="FFFFFF">
              <a:alpha val="92000"/>
            </a:srgbClr>
          </a:solidFill>
          <a:ln w="6350">
            <a:solidFill>
              <a:srgbClr val="4E8D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43000"/>
            <a:ext cx="54864" cy="777240"/>
          </a:xfrm>
          <a:prstGeom prst="rect">
            <a:avLst/>
          </a:prstGeom>
          <a:solidFill>
            <a:srgbClr val="4E8DF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8DF5"/>
                </a:solidFill>
              </a:rPr>
              <a:t>What UCDSC Does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Simplex-based class prototypes + uncertainty-aware rejection for open-set recognition on medical image datasets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4023360" cy="777240"/>
          </a:xfrm>
          <a:prstGeom prst="rect">
            <a:avLst/>
          </a:prstGeom>
          <a:solidFill>
            <a:srgbClr val="FFFFFF">
              <a:alpha val="92000"/>
            </a:srgbClr>
          </a:solidFill>
          <a:ln w="6350">
            <a:solidFill>
              <a:srgbClr val="2ECC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011680"/>
            <a:ext cx="54864" cy="77724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057400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</a:rPr>
              <a:t>Base Contributions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Strong OSR on medical datasets; combines prototype geometry, uncertainty regularization, and open-set rejection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880360"/>
            <a:ext cx="4023360" cy="685800"/>
          </a:xfrm>
          <a:prstGeom prst="rect">
            <a:avLst/>
          </a:prstGeom>
          <a:solidFill>
            <a:srgbClr val="FFFFFF">
              <a:alpha val="92000"/>
            </a:srgbClr>
          </a:solidFill>
          <a:ln w="6350">
            <a:solidFill>
              <a:srgbClr val="F39C1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880360"/>
            <a:ext cx="54864" cy="6858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926080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</a:rPr>
              <a:t>Limitation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Simplex view assumes d ≥ C − 1; practical low-dim settings violate this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4023360" cy="685800"/>
          </a:xfrm>
          <a:prstGeom prst="rect">
            <a:avLst/>
          </a:prstGeom>
          <a:solidFill>
            <a:srgbClr val="FFFFFF">
              <a:alpha val="92000"/>
            </a:srgbClr>
          </a:solidFill>
          <a:ln w="6350">
            <a:solidFill>
              <a:srgbClr val="7EB5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657600"/>
            <a:ext cx="54864" cy="685800"/>
          </a:xfrm>
          <a:prstGeom prst="rect">
            <a:avLst/>
          </a:prstGeom>
          <a:solidFill>
            <a:srgbClr val="7EB5F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703320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EB5FF"/>
                </a:solidFill>
              </a:rPr>
              <a:t>Our Direction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Extend theory beyond the strict simplex regime; study threshold selection, dimension sensitivity, and d &lt; C − 1 behavior</a:t>
            </a:r>
            <a:endParaRPr lang="en-US" sz="11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234440"/>
            <a:ext cx="4114800" cy="1527048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4663440" y="2926080"/>
            <a:ext cx="4114800" cy="914400"/>
          </a:xfrm>
          <a:prstGeom prst="rect">
            <a:avLst/>
          </a:prstGeom>
          <a:solidFill>
            <a:srgbClr val="4E8DF5">
              <a:alpha val="15000"/>
            </a:srgbClr>
          </a:solidFill>
          <a:ln w="9525">
            <a:solidFill>
              <a:srgbClr val="4E8DF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00600" y="297180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E8DF5"/>
                </a:solidFill>
              </a:rPr>
              <a:t>Key Insight: </a:t>
            </a:r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</a:rPr>
              <a:t>When d &lt; C − 1, perfect simplex symmetry breaks, but rejection geometry survives with quantifiable degradation.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Evaluation — Phase 2  |  IIT  | 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 &amp; Contributions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base paper: reproduction, analysis, and extension experiments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60120"/>
            <a:ext cx="8229600" cy="1188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2240280"/>
            <a:ext cx="8229600" cy="530352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94360" y="2258568"/>
            <a:ext cx="7955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Theoretical Paper: </a:t>
            </a:r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Developed unified framework for simplex-ratio OSR across all dimensions. Key results: Lipschitz continuity of U, exact ball geometry for balanced equal-norm codes, sharp dichotomy theorem (λⱼ = 1 ⇔ regular simplex ⇔ d ≥ C−1), and conditional FAR bounds exponential in d.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8229600" y="2267712"/>
            <a:ext cx="411480" cy="164592"/>
          </a:xfrm>
          <a:prstGeom prst="rect">
            <a:avLst/>
          </a:prstGeom>
          <a:solidFill>
            <a:srgbClr val="4E8DF5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0" y="226771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457200" y="2880360"/>
            <a:ext cx="393192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2962656"/>
            <a:ext cx="274320" cy="274320"/>
          </a:xfrm>
          <a:prstGeom prst="ellipse">
            <a:avLst/>
          </a:prstGeom>
          <a:solidFill>
            <a:srgbClr val="4E8DF5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29626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14400" y="288036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3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Reproduced UCDSC baselines on BloodMNIST and DermaMNIST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520440" y="2999232"/>
            <a:ext cx="777240" cy="201168"/>
          </a:xfrm>
          <a:prstGeom prst="rect">
            <a:avLst/>
          </a:prstGeom>
          <a:solidFill>
            <a:srgbClr val="4E8DF5">
              <a:alpha val="15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3520440" y="299923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4E8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Reproduction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4663440" y="2880360"/>
            <a:ext cx="393192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754880" y="2962656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4"/>
          <p:cNvSpPr/>
          <p:nvPr/>
        </p:nvSpPr>
        <p:spPr>
          <a:xfrm>
            <a:off x="4754880" y="29626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120640" y="2880360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3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calibration / operating-point analysis (FAR-KRR style)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726680" y="2999232"/>
            <a:ext cx="777240" cy="201168"/>
          </a:xfrm>
          <a:prstGeom prst="rect">
            <a:avLst/>
          </a:prstGeom>
          <a:solidFill>
            <a:srgbClr val="0D9488">
              <a:alpha val="15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7726680" y="299923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457200" y="3392424"/>
            <a:ext cx="393192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48640" y="3474720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3" name="Text 20"/>
          <p:cNvSpPr/>
          <p:nvPr/>
        </p:nvSpPr>
        <p:spPr>
          <a:xfrm>
            <a:off x="548640" y="3474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914400" y="3392424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3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Low-dimension experiment on BloodMNIST (dim sensitivity)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3520440" y="3511296"/>
            <a:ext cx="777240" cy="201168"/>
          </a:xfrm>
          <a:prstGeom prst="rect">
            <a:avLst/>
          </a:prstGeom>
          <a:solidFill>
            <a:srgbClr val="0D9488">
              <a:alpha val="1500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3520440" y="351129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4663440" y="3392424"/>
            <a:ext cx="393192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754880" y="3474720"/>
            <a:ext cx="274320" cy="27432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29" name="Text 26"/>
          <p:cNvSpPr/>
          <p:nvPr/>
        </p:nvSpPr>
        <p:spPr>
          <a:xfrm>
            <a:off x="4754880" y="3474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5120640" y="3392424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3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CIFAR-100 as outside-medical stress test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7726680" y="3511296"/>
            <a:ext cx="777240" cy="201168"/>
          </a:xfrm>
          <a:prstGeom prst="rect">
            <a:avLst/>
          </a:prstGeom>
          <a:solidFill>
            <a:srgbClr val="F39C12">
              <a:alpha val="15000"/>
            </a:srgbClr>
          </a:solidFill>
          <a:ln/>
        </p:spPr>
      </p:sp>
      <p:sp>
        <p:nvSpPr>
          <p:cNvPr id="32" name="Text 29"/>
          <p:cNvSpPr/>
          <p:nvPr/>
        </p:nvSpPr>
        <p:spPr>
          <a:xfrm>
            <a:off x="7726680" y="351129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</a:t>
            </a:r>
            <a:endParaRPr lang="en-US" sz="700" dirty="0"/>
          </a:p>
        </p:txBody>
      </p:sp>
      <p:sp>
        <p:nvSpPr>
          <p:cNvPr id="33" name="Shape 30"/>
          <p:cNvSpPr/>
          <p:nvPr/>
        </p:nvSpPr>
        <p:spPr>
          <a:xfrm>
            <a:off x="457200" y="3904488"/>
            <a:ext cx="393192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548640" y="3986784"/>
            <a:ext cx="274320" cy="27432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35" name="Text 32"/>
          <p:cNvSpPr/>
          <p:nvPr/>
        </p:nvSpPr>
        <p:spPr>
          <a:xfrm>
            <a:off x="548640" y="3986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914400" y="3904488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3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PathMNIST: cancer-domain d &lt; C−1 extension (C=6, d=4)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3520440" y="4023360"/>
            <a:ext cx="777240" cy="201168"/>
          </a:xfrm>
          <a:prstGeom prst="rect">
            <a:avLst/>
          </a:prstGeom>
          <a:solidFill>
            <a:srgbClr val="E74C3C">
              <a:alpha val="15000"/>
            </a:srgbClr>
          </a:solidFill>
          <a:ln/>
        </p:spPr>
      </p:sp>
      <p:sp>
        <p:nvSpPr>
          <p:cNvPr id="38" name="Text 35"/>
          <p:cNvSpPr/>
          <p:nvPr/>
        </p:nvSpPr>
        <p:spPr>
          <a:xfrm>
            <a:off x="3520440" y="402336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</a:t>
            </a:r>
            <a:endParaRPr lang="en-US" sz="700" dirty="0"/>
          </a:p>
        </p:txBody>
      </p:sp>
      <p:sp>
        <p:nvSpPr>
          <p:cNvPr id="39" name="Shape 36"/>
          <p:cNvSpPr/>
          <p:nvPr/>
        </p:nvSpPr>
        <p:spPr>
          <a:xfrm>
            <a:off x="4663440" y="3904488"/>
            <a:ext cx="393192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4754880" y="3986784"/>
            <a:ext cx="274320" cy="274320"/>
          </a:xfrm>
          <a:prstGeom prst="ellipse">
            <a:avLst/>
          </a:prstGeom>
          <a:solidFill>
            <a:srgbClr val="6B7394"/>
          </a:solidFill>
          <a:ln/>
        </p:spPr>
      </p:sp>
      <p:sp>
        <p:nvSpPr>
          <p:cNvPr id="41" name="Text 38"/>
          <p:cNvSpPr/>
          <p:nvPr/>
        </p:nvSpPr>
        <p:spPr>
          <a:xfrm>
            <a:off x="4754880" y="3986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5120640" y="3904488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3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and fixed implementation issues for PathMNIST pipeline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7726680" y="4023360"/>
            <a:ext cx="777240" cy="201168"/>
          </a:xfrm>
          <a:prstGeom prst="rect">
            <a:avLst/>
          </a:prstGeom>
          <a:solidFill>
            <a:srgbClr val="6B7394">
              <a:alpha val="15000"/>
            </a:srgbClr>
          </a:solidFill>
          <a:ln/>
        </p:spPr>
      </p:sp>
      <p:sp>
        <p:nvSpPr>
          <p:cNvPr id="44" name="Text 41"/>
          <p:cNvSpPr/>
          <p:nvPr/>
        </p:nvSpPr>
        <p:spPr>
          <a:xfrm>
            <a:off x="7726680" y="402336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700" dirty="0"/>
          </a:p>
        </p:txBody>
      </p:sp>
      <p:sp>
        <p:nvSpPr>
          <p:cNvPr id="45" name="Shape 42"/>
          <p:cNvSpPr/>
          <p:nvPr/>
        </p:nvSpPr>
        <p:spPr>
          <a:xfrm>
            <a:off x="457200" y="4480560"/>
            <a:ext cx="8229600" cy="347472"/>
          </a:xfrm>
          <a:prstGeom prst="rect">
            <a:avLst/>
          </a:prstGeom>
          <a:solidFill>
            <a:srgbClr val="4E8DF5">
              <a:alpha val="10000"/>
            </a:srgbClr>
          </a:solidFill>
          <a:ln w="6350">
            <a:solidFill>
              <a:srgbClr val="4E8DF5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94360" y="448056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E8DF5"/>
                </a:solidFill>
              </a:rPr>
              <a:t>Framing: </a:t>
            </a:r>
            <a:pPr indent="0" marL="0">
              <a:buNone/>
            </a:pPr>
            <a:r>
              <a:rPr lang="en-US" sz="900" dirty="0">
                <a:solidFill>
                  <a:srgbClr val="2E3654"/>
                </a:solidFill>
              </a:rPr>
              <a:t>BloodMNIST &amp; DermaMNIST are paper-aligned reproductions. CIFAR-100 &amp; PathMNIST are extension experiments. PathMNIST is a theory-motivated low-dimensional extension.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Evaluation — Phase 2  |  IIT  |  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Results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594360"/>
            <a:ext cx="3063240" cy="1993392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594360"/>
            <a:ext cx="2880360" cy="1993392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263640" y="594360"/>
            <a:ext cx="260604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2"/>
          <p:cNvSpPr/>
          <p:nvPr/>
        </p:nvSpPr>
        <p:spPr>
          <a:xfrm>
            <a:off x="6263640" y="594360"/>
            <a:ext cx="45720" cy="621792"/>
          </a:xfrm>
          <a:prstGeom prst="rect">
            <a:avLst/>
          </a:prstGeom>
          <a:solidFill>
            <a:srgbClr val="4E8DF5"/>
          </a:solidFill>
          <a:ln/>
        </p:spPr>
      </p:sp>
      <p:sp>
        <p:nvSpPr>
          <p:cNvPr id="7" name="Text 3"/>
          <p:cNvSpPr/>
          <p:nvPr/>
        </p:nvSpPr>
        <p:spPr>
          <a:xfrm>
            <a:off x="6400800" y="612648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E8DF5"/>
                </a:solidFill>
              </a:rPr>
              <a:t>Blood vs Derma</a:t>
            </a:r>
            <a:endParaRPr lang="en-US" sz="900" dirty="0"/>
          </a:p>
          <a:p>
            <a:pPr indent="0" marL="0">
              <a:buNone/>
            </a:pPr>
            <a:r>
              <a:rPr lang="en-US" sz="850" dirty="0">
                <a:solidFill>
                  <a:srgbClr val="2E3654"/>
                </a:solidFill>
              </a:rPr>
              <a:t>BloodMNIST baseline significantly stronger; DermaMNIST shows weaker open-set discrimination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6263640" y="1325880"/>
            <a:ext cx="2606040" cy="6217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6263640" y="1325880"/>
            <a:ext cx="45720" cy="62179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0" name="Text 6"/>
          <p:cNvSpPr/>
          <p:nvPr/>
        </p:nvSpPr>
        <p:spPr>
          <a:xfrm>
            <a:off x="6400800" y="1344168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39C12"/>
                </a:solidFill>
              </a:rPr>
              <a:t>Low Dimension Effect</a:t>
            </a:r>
            <a:endParaRPr lang="en-US" sz="900" dirty="0"/>
          </a:p>
          <a:p>
            <a:pPr indent="0" marL="0">
              <a:buNone/>
            </a:pPr>
            <a:r>
              <a:rPr lang="en-US" sz="850" dirty="0">
                <a:solidFill>
                  <a:srgbClr val="2E3654"/>
                </a:solidFill>
              </a:rPr>
              <a:t>dim 512→ 32: AUROC drops ~3 pts, Best-DTACC FAR triples (8%→29%)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6263640" y="2057400"/>
            <a:ext cx="260604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263640" y="2057400"/>
            <a:ext cx="45720" cy="530352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3" name="Text 9"/>
          <p:cNvSpPr/>
          <p:nvPr/>
        </p:nvSpPr>
        <p:spPr>
          <a:xfrm>
            <a:off x="6400800" y="2075688"/>
            <a:ext cx="2377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CC71"/>
                </a:solidFill>
              </a:rPr>
              <a:t>CIFAR-100</a:t>
            </a:r>
            <a:endParaRPr lang="en-US" sz="900" dirty="0"/>
          </a:p>
          <a:p>
            <a:pPr indent="0" marL="0">
              <a:buNone/>
            </a:pPr>
            <a:r>
              <a:rPr lang="en-US" sz="850" dirty="0">
                <a:solidFill>
                  <a:srgbClr val="2E3654"/>
                </a:solidFill>
              </a:rPr>
              <a:t>Strong outside medical domain: AUROC 92.0, OSCR 88.0</a:t>
            </a:r>
            <a:endParaRPr lang="en-US" sz="9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743200"/>
            <a:ext cx="3474720" cy="2084832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31920" y="2788920"/>
          <a:ext cx="493776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822960"/>
                <a:gridCol w="868680"/>
                <a:gridCol w="868680"/>
                <a:gridCol w="77724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Dataset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ACC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AUROC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OSCR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TNR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3654"/>
                          </a:solidFill>
                        </a:rPr>
                        <a:t>BloodMNIST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E3654"/>
                          </a:solidFill>
                        </a:rPr>
                        <a:t>98.2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E3654"/>
                          </a:solidFill>
                        </a:rPr>
                        <a:t>81.1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E3654"/>
                          </a:solidFill>
                        </a:rPr>
                        <a:t>80.5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E3654"/>
                          </a:solidFill>
                        </a:rPr>
                        <a:t>34.6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3654"/>
                          </a:solidFill>
                        </a:rPr>
                        <a:t>DermaMNIST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E3654"/>
                          </a:solidFill>
                        </a:rPr>
                        <a:t>84.4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E3654"/>
                          </a:solidFill>
                        </a:rPr>
                        <a:t>67.4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E3654"/>
                          </a:solidFill>
                        </a:rPr>
                        <a:t>60.1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E3654"/>
                          </a:solidFill>
                        </a:rPr>
                        <a:t>14.5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3654"/>
                          </a:solidFill>
                        </a:rPr>
                        <a:t>CIFAR-100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E3654"/>
                          </a:solidFill>
                        </a:rPr>
                        <a:t>94.5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E3654"/>
                          </a:solidFill>
                        </a:rPr>
                        <a:t>92.0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E3654"/>
                          </a:solidFill>
                        </a:rPr>
                        <a:t>88.0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E3654"/>
                          </a:solidFill>
                        </a:rPr>
                        <a:t>59.3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E74C3C"/>
                          </a:solidFill>
                        </a:rPr>
                        <a:t>PathMNIST*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</a:rPr>
                        <a:t>42.8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</a:rPr>
                        <a:t>36.1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</a:rPr>
                        <a:t>12.5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E74C3C"/>
                          </a:solidFill>
                        </a:rPr>
                        <a:t>1.9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</a:tr>
            </a:tbl>
          </a:graphicData>
        </a:graphic>
      </p:graphicFrame>
      <p:sp>
        <p:nvSpPr>
          <p:cNvPr id="16" name="Text 10"/>
          <p:cNvSpPr/>
          <p:nvPr/>
        </p:nvSpPr>
        <p:spPr>
          <a:xfrm>
            <a:off x="3931920" y="402336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PathMNIST: d &lt; C−1 extension (C=6, d=4) — not a reproduction</a:t>
            </a:r>
            <a:endParaRPr lang="en-US" sz="750" dirty="0"/>
          </a:p>
        </p:txBody>
      </p:sp>
      <p:sp>
        <p:nvSpPr>
          <p:cNvPr id="17" name="Shape 11"/>
          <p:cNvSpPr/>
          <p:nvPr/>
        </p:nvSpPr>
        <p:spPr>
          <a:xfrm>
            <a:off x="3931920" y="4297680"/>
            <a:ext cx="4937760" cy="594360"/>
          </a:xfrm>
          <a:prstGeom prst="rect">
            <a:avLst/>
          </a:prstGeom>
          <a:solidFill>
            <a:srgbClr val="E74C3C">
              <a:alpha val="10000"/>
            </a:srgbClr>
          </a:solidFill>
          <a:ln w="6350">
            <a:solidFill>
              <a:srgbClr val="E74C3C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4069080" y="431596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4C3C"/>
                </a:solidFill>
              </a:rPr>
              <a:t>Theory Validation: </a:t>
            </a:r>
            <a:pPr indent="0" marL="0">
              <a:buNone/>
            </a:pPr>
            <a:r>
              <a:rPr lang="en-US" sz="900" dirty="0">
                <a:solidFill>
                  <a:srgbClr val="2E3654"/>
                </a:solidFill>
              </a:rPr>
              <a:t>PathMNIST in the d &lt; C−1 regime shows weak, unstable open-set performance — qualitatively consistent with the prediction that low dimension degrades rejection geometry.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Evaluation — Phase 2  |  IIT  |  2026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Contributions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distribution across theory, experimentation, implementation, and presentation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61772" y="1051560"/>
            <a:ext cx="2606040" cy="3063240"/>
          </a:xfrm>
          <a:prstGeom prst="rect">
            <a:avLst/>
          </a:prstGeom>
          <a:solidFill>
            <a:srgbClr val="FFFFFF">
              <a:alpha val="93000"/>
            </a:srgbClr>
          </a:solidFill>
          <a:ln w="9525">
            <a:solidFill>
              <a:srgbClr val="4E8D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61772" y="1051560"/>
            <a:ext cx="2606040" cy="54864"/>
          </a:xfrm>
          <a:prstGeom prst="rect">
            <a:avLst/>
          </a:prstGeom>
          <a:solidFill>
            <a:srgbClr val="4E8DF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4772" y="123444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61772" y="1600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Mayank Sharma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27532" y="1965960"/>
            <a:ext cx="1874520" cy="0"/>
          </a:xfrm>
          <a:prstGeom prst="line">
            <a:avLst/>
          </a:prstGeom>
          <a:noFill/>
          <a:ln w="6350">
            <a:solidFill>
              <a:srgbClr val="4E8DF5"/>
            </a:solidFill>
            <a:prstDash val="dash"/>
          </a:ln>
        </p:spPr>
      </p:sp>
      <p:sp>
        <p:nvSpPr>
          <p:cNvPr id="9" name="Text 6"/>
          <p:cNvSpPr/>
          <p:nvPr/>
        </p:nvSpPr>
        <p:spPr>
          <a:xfrm>
            <a:off x="598932" y="2103120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950" dirty="0">
                <a:solidFill>
                  <a:srgbClr val="2E3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reading and interpretation of UCDSC paper and the d &lt; C−1 regime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950" dirty="0">
                <a:solidFill>
                  <a:srgbClr val="2E3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Reproduced baseline analysis and comparison across BloodMNIST and DermaMNIST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950" dirty="0">
                <a:solidFill>
                  <a:srgbClr val="2E3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Report/presentation narrative and consolidation of experiment findings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68980" y="1051560"/>
            <a:ext cx="2606040" cy="3063240"/>
          </a:xfrm>
          <a:prstGeom prst="rect">
            <a:avLst/>
          </a:prstGeom>
          <a:solidFill>
            <a:srgbClr val="FFFFFF">
              <a:alpha val="93000"/>
            </a:srgbClr>
          </a:solidFill>
          <a:ln w="9525">
            <a:solidFill>
              <a:srgbClr val="4E8DF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68980" y="1051560"/>
            <a:ext cx="2606040" cy="54864"/>
          </a:xfrm>
          <a:prstGeom prst="rect">
            <a:avLst/>
          </a:prstGeom>
          <a:solidFill>
            <a:srgbClr val="4E8DF5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1980" y="123444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68980" y="1600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Rohit Mourya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3634740" y="1965960"/>
            <a:ext cx="1874520" cy="0"/>
          </a:xfrm>
          <a:prstGeom prst="line">
            <a:avLst/>
          </a:prstGeom>
          <a:noFill/>
          <a:ln w="6350">
            <a:solidFill>
              <a:srgbClr val="4E8DF5"/>
            </a:solidFill>
            <a:prstDash val="dash"/>
          </a:ln>
        </p:spPr>
      </p:sp>
      <p:sp>
        <p:nvSpPr>
          <p:cNvPr id="15" name="Text 11"/>
          <p:cNvSpPr/>
          <p:nvPr/>
        </p:nvSpPr>
        <p:spPr>
          <a:xfrm>
            <a:off x="3406140" y="2103120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950" dirty="0">
                <a:solidFill>
                  <a:srgbClr val="2E3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understanding and framing of the low-dimensional extension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950" dirty="0">
                <a:solidFill>
                  <a:srgbClr val="2E3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Threshold/dimension experiments and CIFAR-100 extension evaluation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950" dirty="0">
                <a:solidFill>
                  <a:srgbClr val="2E3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organization, result comparisons, and final presentation content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076188" y="1051560"/>
            <a:ext cx="2606040" cy="3063240"/>
          </a:xfrm>
          <a:prstGeom prst="rect">
            <a:avLst/>
          </a:prstGeom>
          <a:solidFill>
            <a:srgbClr val="FFFFFF">
              <a:alpha val="93000"/>
            </a:srgbClr>
          </a:solidFill>
          <a:ln w="9525">
            <a:solidFill>
              <a:srgbClr val="4E8DF5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076188" y="1051560"/>
            <a:ext cx="2606040" cy="54864"/>
          </a:xfrm>
          <a:prstGeom prst="rect">
            <a:avLst/>
          </a:prstGeom>
          <a:solidFill>
            <a:srgbClr val="4E8DF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9188" y="123444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076188" y="1600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 George John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441948" y="1965960"/>
            <a:ext cx="1874520" cy="0"/>
          </a:xfrm>
          <a:prstGeom prst="line">
            <a:avLst/>
          </a:prstGeom>
          <a:noFill/>
          <a:ln w="6350">
            <a:solidFill>
              <a:srgbClr val="4E8DF5"/>
            </a:solidFill>
            <a:prstDash val="dash"/>
          </a:ln>
        </p:spPr>
      </p:sp>
      <p:sp>
        <p:nvSpPr>
          <p:cNvPr id="21" name="Text 16"/>
          <p:cNvSpPr/>
          <p:nvPr/>
        </p:nvSpPr>
        <p:spPr>
          <a:xfrm>
            <a:off x="6213348" y="2103120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950" dirty="0">
                <a:solidFill>
                  <a:srgbClr val="2E3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interpretation of PathMNIST as a d &lt; C−1 extension experiment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950" dirty="0">
                <a:solidFill>
                  <a:srgbClr val="2E3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PathMNIST pipeline execution, debugging, and final result generation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950" dirty="0">
                <a:solidFill>
                  <a:srgbClr val="2E3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compilation, output validation, and demo/presentation material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solidFill>
            <a:srgbClr val="4E8DF5">
              <a:alpha val="15000"/>
            </a:srgbClr>
          </a:solidFill>
          <a:ln w="6350">
            <a:solidFill>
              <a:srgbClr val="4E8DF5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594360" y="429768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effort was distributed approximately equally across theory, experimentation, implementation, and presentation.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Evaluation — Phase 2  |  IIT  | 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UCDSC Phase-2 Evaluation</dc:title>
  <dc:subject>PptxGenJS Presentation</dc:subject>
  <dc:creator>Project Team</dc:creator>
  <cp:lastModifiedBy>Project Team</cp:lastModifiedBy>
  <cp:revision>1</cp:revision>
  <dcterms:created xsi:type="dcterms:W3CDTF">2026-03-28T06:03:41Z</dcterms:created>
  <dcterms:modified xsi:type="dcterms:W3CDTF">2026-03-28T06:03:41Z</dcterms:modified>
</cp:coreProperties>
</file>